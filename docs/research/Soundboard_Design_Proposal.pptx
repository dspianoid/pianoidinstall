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Closed-Loop Soundboard Design</a:t>
            </a:r>
            <a:br/>
            <a:r>
              <a:t>Using GPU-Accelerated Modal Synthesis</a:t>
            </a:r>
            <a:br/>
            <a:r>
              <a:t>and Physical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A quantified design-fabrication-verification methodology for piano soundboards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Co-Development Proposal: Industry +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77CC"/>
                </a:solidFill>
                <a:latin typeface="Calibri"/>
              </a:defRPr>
            </a:pPr>
            <a:r>
              <a:t>PIANOID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Why do some pianos sing while others stay dull — and why can’t we answer this systematically?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8"/>
                </a:solidFill>
                <a:latin typeface="Calibri"/>
              </a:defRPr>
            </a:pPr>
            <a:r>
              <a:t>Systematic soundboard design is economically and methodologically impossible with current tools. A concert grand has 230 strings coupled through thousands of resonance modes. Evaluating one design change requires weeks of labor and thousands in materials.</a:t>
            </a:r>
            <a:br/>
            <a:br/>
            <a:r>
              <a:t>• “Killer octave” — poor sustain in 5th–6th octave. Mechanism understood; design solution is not</a:t>
            </a:r>
            <a:br/>
            <a:r>
              <a:t>• Design knowledge exists as intuition, not transferable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BBEE"/>
                </a:solidFill>
                <a:latin typeface="Calibri"/>
              </a:defRPr>
            </a:pPr>
            <a:r>
              <a:t>Can a closed-loop methodology — FEA design, real-time preview, fabrication, and quantified modal verification — make soundboard design systematic and reproducible?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C"/>
                </a:solidFill>
                <a:latin typeface="Calibri"/>
              </a:defRPr>
            </a:pPr>
            <a:r>
              <a:t>A/B synthesis: FEA-predicted modes vs. physically measured modes on the same engine. Isolates model accuracy from synthesizer fidelity. If predicted and measured soundboards converge perceptually, the design loop is validated.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 Actively Explored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99DD"/>
                </a:solidFill>
                <a:latin typeface="Calibri"/>
              </a:defRPr>
            </a:pPr>
            <a:r>
              <a:t>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99DD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99DD"/>
                </a:solidFill>
                <a:latin typeface="Calibri"/>
              </a:defRPr>
            </a:pPr>
            <a:r>
              <a:t>Key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Chabassier, Chaigne (Inria/ENSTA)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FE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Energy-preserving string+soundboard+air (JASA 2013)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MAESSTRO (ANR)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01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Soundboard CAD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019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FEA modal synthesis; offline single-note (Acta Acustica 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Ege, Boutillon (Polytechnique)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49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Modal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9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Soundboard characterization at manufacturing stages (2018)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96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Välimäki, Bank (Aalto/Budapest)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96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Real-time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Digital waveguide/IIR with psychoacoustic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Modartt Pianoteq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944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Commercial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443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~1000 modes/note, proprietary, no design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Weinreich (Michigan)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91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String coupling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Coupled polarization and double decay (JASA 1977)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490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99DD"/>
                </a:solidFill>
                <a:latin typeface="Calibri"/>
              </a:defRPr>
            </a:pPr>
            <a:r>
              <a:t>The gap: No work closes the loop from FEA modes through real-time polyphonic synthesis to quantified physical verification. The A/B synthesis experiment — comparing predicted and measured modes on the same engine — has never been performed.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Already Exists: The Pianoid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Working System (demonstrated at NAMM)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GPU modal synthesis — 256 soundboard modes coupled to all strings, real-time on 4070 Ti, 30–50% margin</a:t>
            </a:r>
            <a:br/>
            <a:br/>
            <a:r>
              <a:t>• Inter-string coupling via feedin/feedback matrices (how each mode is energised by strings and returns energy). Sympathetic resonance emerges</a:t>
            </a:r>
            <a:br/>
            <a:br/>
            <a:r>
              <a:t>• Modal measurement — ESPRIT extraction + automated tracking, 78+ positions</a:t>
            </a:r>
            <a:br/>
            <a:br/>
            <a:r>
              <a:t>• Excitation prototype — 8-channel actuators on real soundboard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What This Proposal Builds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Engine: 256 → 2048 modes — 5000+ shaders available. Challenge: coupling at scale. Approach: flatten coefficients for higher modes. ~2 months. Fallback: 256-mode model</a:t>
            </a:r>
            <a:br/>
            <a:br/>
            <a:r>
              <a:t>• FEA import pipeline — feedin/feedback matrices from FEA eigenmode output</a:t>
            </a:r>
            <a:br/>
            <a:br/>
            <a:r>
              <a:t>• Perceptual validation — ABX listening tests, comparative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State of the Art — And Its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MAESSTRO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Pianoteq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Pianoid (current)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Pianoid (proposed)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Synthesis speed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16 min/note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Real-time 48kHz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Real-time 48kHz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Polyphony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Single note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256 strings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256 strings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Multi-string coupling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Proprietary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256 modes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99EE"/>
                          </a:solidFill>
                          <a:latin typeface="Calibri"/>
                        </a:defRPr>
                      </a:pPr>
                      <a:r>
                        <a:t>2048 modes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Soundboard from FEA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Hand-tuned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Measured only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99EE"/>
                          </a:solidFill>
                          <a:latin typeface="Calibri"/>
                        </a:defRPr>
                      </a:pPr>
                      <a:r>
                        <a:t>FEA-derived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Modal measurement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ESPRIT pipeline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ESPRIT pipeline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Design verification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Not yet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99EE"/>
                          </a:solidFill>
                          <a:latin typeface="Calibri"/>
                        </a:defRPr>
                      </a:pPr>
                      <a:r>
                        <a:t>A/B synthesis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99"/>
                          </a:solidFill>
                          <a:latin typeface="Calibri"/>
                        </a:defRPr>
                      </a:pPr>
                      <a:r>
                        <a:t>Acoustic performance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6666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BB77"/>
                          </a:solidFill>
                          <a:latin typeface="Calibri"/>
                        </a:defRPr>
                      </a:pPr>
                      <a:r>
                        <a:t>8-ch prototype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599EE"/>
                          </a:solidFill>
                          <a:latin typeface="Calibri"/>
                        </a:defRPr>
                      </a:pPr>
                      <a:r>
                        <a:t>Multi-point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Blue = proposed capabilities this project delivers.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This Methodology Requires a New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C"/>
                </a:solidFill>
                <a:latin typeface="Calibri"/>
              </a:defRPr>
            </a:pPr>
            <a:r>
              <a:t>A closed-loop methodology cannot use a conventional piano. Its constraints prevent systematic soundboard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Conventional Piano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String tension is the primary constraint — 15–20 tonnes defines everything</a:t>
            </a:r>
            <a:br/>
            <a:br/>
            <a:r>
              <a:t>• Weight, shape, size consequential to string tension</a:t>
            </a:r>
            <a:br/>
            <a:br/>
            <a:r>
              <a:t>• Designer works in a space already defined by structural constraints</a:t>
            </a:r>
            <a:br/>
            <a:br/>
            <a:r>
              <a:t>• Swapping a soundboard requires weeks — iteration impractical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Pianoid Enables Iteration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No permanent string tension — electromechanical excitation, GPU physics</a:t>
            </a:r>
            <a:br/>
            <a:br/>
            <a:r>
              <a:t>• Free exciter placement — actuators anywhere on soundboard</a:t>
            </a:r>
            <a:br/>
            <a:br/>
            <a:r>
              <a:t>• Soundboard swappable — free mounting, no stress. New design in hours</a:t>
            </a:r>
            <a:br/>
            <a:br/>
            <a:r>
              <a:t>• Geometry determined purely by acoustic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Closed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828800" cy="502920"/>
          </a:xfrm>
          <a:prstGeom prst="roundRect">
            <a:avLst/>
          </a:prstGeom>
          <a:solidFill>
            <a:srgbClr val="12121E"/>
          </a:solidFill>
          <a:ln>
            <a:solidFill>
              <a:srgbClr val="2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55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97280"/>
            <a:ext cx="1828800" cy="502920"/>
          </a:xfrm>
          <a:prstGeom prst="roundRect">
            <a:avLst/>
          </a:prstGeom>
          <a:solidFill>
            <a:srgbClr val="12121E"/>
          </a:solidFill>
          <a:ln>
            <a:solidFill>
              <a:srgbClr val="2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GPU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55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097280"/>
            <a:ext cx="1828800" cy="502920"/>
          </a:xfrm>
          <a:prstGeom prst="roundRect">
            <a:avLst/>
          </a:prstGeom>
          <a:solidFill>
            <a:srgbClr val="12121E"/>
          </a:solidFill>
          <a:ln>
            <a:solidFill>
              <a:srgbClr val="2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Fabrication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55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097280"/>
            <a:ext cx="1828800" cy="502920"/>
          </a:xfrm>
          <a:prstGeom prst="roundRect">
            <a:avLst/>
          </a:prstGeom>
          <a:solidFill>
            <a:srgbClr val="12121E"/>
          </a:solidFill>
          <a:ln>
            <a:solidFill>
              <a:srgbClr val="2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79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55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097280"/>
            <a:ext cx="1828800" cy="502920"/>
          </a:xfrm>
          <a:prstGeom prst="roundRect">
            <a:avLst/>
          </a:prstGeom>
          <a:solidFill>
            <a:srgbClr val="12121E"/>
          </a:solidFill>
          <a:ln>
            <a:solidFill>
              <a:srgbClr val="2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A/B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255AA"/>
                </a:solidFill>
                <a:latin typeface="Calibri"/>
              </a:defRPr>
            </a:pPr>
            <a:r>
              <a:t>←———— Correlation below threshold? Revise FEA and iterate ————→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799DD"/>
                </a:solidFill>
                <a:latin typeface="Calibri"/>
              </a:defRPr>
            </a:pPr>
            <a:r>
              <a:t>Loop closure: quantified modal correlation (frequency, MAC, damping) defines go/no-go. A/B perceptual test validates convergence.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99DD"/>
                </a:solidFill>
                <a:latin typeface="Calibri"/>
              </a:defRPr>
            </a:pPr>
            <a:r>
              <a:t>Phases 1–2: Design &amp; 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FEA eigenvalue analysis. Per mode: frequency, quality factor, modal mass, mode shape amplitudes at excitation positions. Mode shapes define feedin/feedback coupling matrices.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99DD"/>
                </a:solidFill>
                <a:latin typeface="Calibri"/>
              </a:defRPr>
            </a:pPr>
            <a:r>
              <a:t>Phase 3: Fabrication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Reduced-scale test boards. Spruce, plywood, composites. CF ribs are a hypothesis to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99DD"/>
                </a:solidFill>
                <a:latin typeface="Calibri"/>
              </a:defRPr>
            </a:pPr>
            <a:r>
              <a:t>Phase 4: Modal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ESPRIT + automated tracking. FEA-vs-measured: frequency, MAC (Modal Assurance Criterion), damping.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99DD"/>
                </a:solidFill>
                <a:latin typeface="Calibri"/>
              </a:defRPr>
            </a:pPr>
            <a:r>
              <a:t>Phase 5: A/B Synthesis &amp;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8"/>
                </a:solidFill>
                <a:latin typeface="Calibri"/>
              </a:defRPr>
            </a:pPr>
            <a:r>
              <a:t>Core experiment: same engine, FEA vs measured modes. Isolates model accuracy. ABX tests, expert assessment.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Co-Development: Industry + University (partner TBD)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Pianoid Brings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GPU modal synthesis engine (working)</a:t>
            </a:r>
            <a:br/>
            <a:r>
              <a:t>• Excitation system (8-ch prototype)</a:t>
            </a:r>
            <a:br/>
            <a:r>
              <a:t>• Modal measurement pipeline</a:t>
            </a:r>
            <a:br/>
            <a:r>
              <a:t>• FEA import tool development</a:t>
            </a:r>
            <a:br/>
            <a:r>
              <a:t>• Engine scaling R&amp;D (256→2048)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University Brings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FEA expertise (orthotropic materials, mesh convergence)</a:t>
            </a:r>
            <a:br/>
            <a:r>
              <a:t>• Music perception science (ABX, psychoacoustics)</a:t>
            </a:r>
            <a:br/>
            <a:r>
              <a:t>• Prototyping &amp; testing facilities</a:t>
            </a:r>
            <a:br/>
            <a:r>
              <a:t>• Acoustic radiation analysis</a:t>
            </a:r>
            <a:br/>
            <a:r>
              <a:t>• Credentialing in acoustics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IP: commercial technology retained by Pianoid. Publications and datasets fully open. Terms negotiated jointly.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Technology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GPU crossing the threshold — 2048-mode real-time modal synthesis feasible for the first time</a:t>
            </a:r>
            <a:br/>
            <a:br/>
            <a:r>
              <a:t>• MAESSTRO laid FEA groundwork — missing: real-time + verification loop</a:t>
            </a:r>
            <a:br/>
            <a:br/>
            <a:r>
              <a:t>• Modal analysis tools mature — ESPRIT extracts hundreds of modes reliably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Platform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Pianoid demonstrated publicly — extends a working system</a:t>
            </a:r>
            <a:br/>
            <a:br/>
            <a:r>
              <a:t>• Closed-loop now executable — required combination unavailable 5 years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Growing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Sustainable materials need acoustic evaluation tools</a:t>
            </a:r>
            <a:br/>
            <a:br/>
            <a:r>
              <a:t>• Digital twin expanding from aerospace to acoustics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Timeline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Timeline (12 months)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2286000"/>
              </a:tblGrid>
              <a:tr h="325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Mo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799DD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Engine scaling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1–2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Validated (or fallback)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FEA import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1–3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Working pipeline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FEA design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2–5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Modal basis, 2+ designs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GPU preview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4–6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Virtual instruments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Fabrication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4–8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Test boards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7–9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FEA-vs-measured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A/B evaluation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8–11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ABX, prototype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Publication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10–12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8C8D8"/>
                          </a:solidFill>
                          <a:latin typeface="Calibri"/>
                        </a:defRPr>
                      </a:pPr>
                      <a:r>
                        <a:t>Papers, dataset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Key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8855"/>
                </a:solidFill>
                <a:latin typeface="Calibri"/>
              </a:defRPr>
            </a:pPr>
            <a:r>
              <a:t>2048-mode scaling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9988"/>
                </a:solidFill>
                <a:latin typeface="Calibri"/>
              </a:defRPr>
            </a:pPr>
            <a:r>
              <a:t>Fallback: 256-mode model. Next-gen NVIDIA adds headroom.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8855"/>
                </a:solidFill>
                <a:latin typeface="Calibri"/>
              </a:defRPr>
            </a:pPr>
            <a:r>
              <a:t>Poor FEA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9988"/>
                </a:solidFill>
                <a:latin typeface="Calibri"/>
              </a:defRPr>
            </a:pPr>
            <a:r>
              <a:t>Start simple. Discrepancies inform refinement — this is the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8855"/>
                </a:solidFill>
                <a:latin typeface="Calibri"/>
              </a:defRPr>
            </a:pPr>
            <a:r>
              <a:t>Prototype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82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9988"/>
                </a:solidFill>
                <a:latin typeface="Calibri"/>
              </a:defRPr>
            </a:pPr>
            <a:r>
              <a:t>Spruce baseline alongside experimental materials.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8855"/>
                </a:solidFill>
                <a:latin typeface="Calibri"/>
              </a:defRPr>
            </a:pPr>
            <a:r>
              <a:t>Partnership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9988"/>
                </a:solidFill>
                <a:latin typeface="Calibri"/>
              </a:defRPr>
            </a:pPr>
            <a:r>
              <a:t>Parallel workstreams; industry work proceeds independently months 1–3.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72800" cy="25400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Scientific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Validated closed-loop methodology with go/no-go criteria</a:t>
            </a:r>
            <a:br/>
            <a:r>
              <a:t>• A/B synthesis results — controlled FEA vs measured</a:t>
            </a:r>
            <a:br/>
            <a:r>
              <a:t>• Design guidelines — sensitivity of acoustic features to structural parameters</a:t>
            </a:r>
            <a:br/>
            <a:r>
              <a:t>• Open modal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Publications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Closed-loop methodology + A/B results (Acta Acustica)</a:t>
            </a:r>
            <a:br/>
            <a:r>
              <a:t>• Mode tracking methodology</a:t>
            </a:r>
            <a:br/>
            <a:r>
              <a:t>• Hybrid instrument: concept +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Technological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Playable prototype — soundboard + excitation, live performance</a:t>
            </a:r>
            <a:br/>
            <a:r>
              <a:t>• Software pipeline — FEA-to-engine import</a:t>
            </a:r>
            <a:br/>
            <a:r>
              <a:t>• Modal measurement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99DD"/>
                </a:solidFill>
                <a:latin typeface="Calibri"/>
              </a:defRPr>
            </a:pPr>
            <a:r>
              <a:t>Industrial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8"/>
                </a:solidFill>
                <a:latin typeface="Calibri"/>
              </a:defRPr>
            </a:pPr>
            <a:r>
              <a:t>• Computer-aided soundboard design with real-time preview</a:t>
            </a:r>
            <a:br/>
            <a:r>
              <a:t>• Sustainable materials evaluation pathway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first system that lets you hear a soundboard</a:t>
            </a:r>
            <a:br/>
            <a:r>
              <a:t>before you build it — and verify what you built</a:t>
            </a:r>
            <a:br/>
            <a:r>
              <a:t>against what you designed.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77CC"/>
                </a:solidFill>
                <a:latin typeface="Calibri"/>
              </a:defRPr>
            </a:pPr>
            <a:r>
              <a:t>PIANOID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